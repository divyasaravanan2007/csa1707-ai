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63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Utility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027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  <c:pt idx="4">
                  <c:v>Product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</c:v>
                </c:pt>
                <c:pt idx="1">
                  <c:v>0.84</c:v>
                </c:pt>
                <c:pt idx="2">
                  <c:v>0.77</c:v>
                </c:pt>
                <c:pt idx="3">
                  <c:v>0.68</c:v>
                </c:pt>
                <c:pt idx="4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4-489E-B6F0-12ED3CBB63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027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0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8B8F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03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1645920"/>
            <a:ext cx="5669280" cy="566928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roj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8458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48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6060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Product Recommendations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E-Commerce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FF0000"/>
                </a:solidFill>
              </a:rPr>
              <a:t>PRESENTED BY:                                                                                                                          GUIDED BY: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FF0000"/>
                </a:solidFill>
              </a:rPr>
              <a:t>S.DIVYASRI(192524388)                                                                                                           DR. R. VEERAMANI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Presentation  •  Intelligent Agents in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Utility-Based Agent?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utility-based agent is a rational agent that doesn’t just react to its environment — it evaluates every possible action and chooses the one that </a:t>
            </a:r>
            <a:r>
              <a:rPr lang="en-US" sz="1300" b="1" dirty="0">
                <a:solidFill>
                  <a:srgbClr val="0280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maximizes a measurable utility value.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e-commerce, "utility" represents how satisfied a customer is likely to be with a recommended product — combining relevance, price fit, quality, and preference alignment into a single comparable score.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4389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/home/claude/proj/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4533138"/>
            <a:ext cx="352044" cy="3520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43708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Goal-Directed, Not Just Reactive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00200" y="47091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Unlike simple reflex agents, it weighs trade-offs — e.g., a slightly pricier item with far better reviews — to pick the best overall outcome.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0" y="1417320"/>
            <a:ext cx="4297680" cy="4892040"/>
          </a:xfrm>
          <a:prstGeom prst="roundRect">
            <a:avLst>
              <a:gd name="adj" fmla="val 2128"/>
            </a:avLst>
          </a:prstGeom>
          <a:solidFill>
            <a:srgbClr val="073B4C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/home/claude/proj/icons/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684" y="213512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21040" y="19933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Perceive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321040" y="2267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behavior, context, catalog data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909560" y="2578608"/>
            <a:ext cx="0" cy="45720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7635240" y="3063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proj/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684" y="318668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044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321040" y="33192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each option by utility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909560" y="3630168"/>
            <a:ext cx="0" cy="45720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763524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/home/claude/proj/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4" y="423824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321040" y="4096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321040" y="43708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 highest-utility items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909560" y="4681728"/>
            <a:ext cx="0" cy="45720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7635240" y="5166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/home/claude/proj/icons/chart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684" y="5289804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321040" y="5148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8321040" y="5422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model from feedback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MECHANISM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Assigning Utility Values to Options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candidate product is reduced to one comparable number: a weighted sum of factors that predict customer satisfaction.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73B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U(product) = </a:t>
            </a: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b="1" baseline="-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·Relevance + </a:t>
            </a: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b="1" baseline="-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·Rating + </a:t>
            </a: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b="1" baseline="-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·PriceFit + </a:t>
            </a: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00" b="1" baseline="-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·Availability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08760" y="34290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/home/claude/proj/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65" y="3583305"/>
            <a:ext cx="377190" cy="3771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4297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Relevance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1520" y="47548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to search intent, browsing &amp; purchase history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211580" y="57150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F5F3"/>
          </a:solidFill>
          <a:ln/>
        </p:spPr>
      </p:sp>
      <p:sp>
        <p:nvSpPr>
          <p:cNvPr id="14" name="Text 11"/>
          <p:cNvSpPr/>
          <p:nvPr/>
        </p:nvSpPr>
        <p:spPr>
          <a:xfrm>
            <a:off x="1211580" y="5715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w₁ = 0.35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37560" y="31546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97680" y="34290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/home/claude/proj/icons/sta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985" y="3583305"/>
            <a:ext cx="377190" cy="3771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4297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 &amp; Reviews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3520440" y="47548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Aggregate quality signal from other buyers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000500" y="57150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F5F3"/>
          </a:solidFill>
          <a:ln/>
        </p:spPr>
      </p:sp>
      <p:sp>
        <p:nvSpPr>
          <p:cNvPr id="21" name="Text 17"/>
          <p:cNvSpPr/>
          <p:nvPr/>
        </p:nvSpPr>
        <p:spPr>
          <a:xfrm>
            <a:off x="4000500" y="5715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w₂ = 0.25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26480" y="31546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086600" y="34290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2" descr="/home/claude/proj/icons/doll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905" y="3583305"/>
            <a:ext cx="377190" cy="37719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63640" y="4297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Price Fit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309360" y="47548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Alignment with the user’s typical spend range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789420" y="57150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F5F3"/>
          </a:solidFill>
          <a:ln/>
        </p:spPr>
      </p:sp>
      <p:sp>
        <p:nvSpPr>
          <p:cNvPr id="28" name="Text 23"/>
          <p:cNvSpPr/>
          <p:nvPr/>
        </p:nvSpPr>
        <p:spPr>
          <a:xfrm>
            <a:off x="6789420" y="5715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w₃ = 0.20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915400" y="31546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blurRad="76200" dist="25400" dir="5400000" algn="bl" rotWithShape="0">
              <a:srgbClr val="073B4C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875520" y="34290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3" descr="/home/claude/proj/icons/box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9825" y="3583305"/>
            <a:ext cx="377190" cy="37719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052560" y="4297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9098280" y="47548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stock, fast shipping, delivery reliability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9578340" y="57150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F5F3"/>
          </a:solidFill>
          <a:ln/>
        </p:spPr>
      </p:sp>
      <p:sp>
        <p:nvSpPr>
          <p:cNvPr id="35" name="Text 29"/>
          <p:cNvSpPr/>
          <p:nvPr/>
        </p:nvSpPr>
        <p:spPr>
          <a:xfrm>
            <a:off x="9578340" y="5715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w₄ = 0.20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Optimizing at Scale: The Data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Millions of users and catalog items mean the agent must score options continuously, using distributed data pipelines rather than one-off calculations.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828800" cy="3017520"/>
          </a:xfrm>
          <a:prstGeom prst="roundRect">
            <a:avLst>
              <a:gd name="adj" fmla="val 4000"/>
            </a:avLst>
          </a:prstGeom>
          <a:solidFill>
            <a:srgbClr val="0E4A5B"/>
          </a:solidFill>
          <a:ln w="12700">
            <a:solidFill>
              <a:srgbClr val="145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834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/home/claude/proj/icons/databas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018" y="297865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6243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657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42062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Clicks, purchases, ratings, browsing sessions, inventory feeds</a:t>
            </a:r>
            <a:endParaRPr lang="en-US" sz="1050" dirty="0"/>
          </a:p>
        </p:txBody>
      </p:sp>
      <p:pic>
        <p:nvPicPr>
          <p:cNvPr id="12" name="Image 1" descr="/home/claude/proj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598" y="388620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57500" y="2514600"/>
            <a:ext cx="1828800" cy="3017520"/>
          </a:xfrm>
          <a:prstGeom prst="roundRect">
            <a:avLst>
              <a:gd name="adj" fmla="val 4000"/>
            </a:avLst>
          </a:prstGeom>
          <a:solidFill>
            <a:srgbClr val="0A3F4E"/>
          </a:solidFill>
          <a:ln w="12700">
            <a:solidFill>
              <a:srgbClr val="14556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51860" y="2834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proj/icons/fil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878" y="297865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94660" y="26243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994660" y="3657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2994660" y="42062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user &amp; product profiles from raw event streams</a:t>
            </a:r>
            <a:endParaRPr lang="en-US" sz="1050" dirty="0"/>
          </a:p>
        </p:txBody>
      </p:sp>
      <p:pic>
        <p:nvPicPr>
          <p:cNvPr id="19" name="Image 3" descr="/home/claude/proj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458" y="3886200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166360" y="2514600"/>
            <a:ext cx="1828800" cy="3017520"/>
          </a:xfrm>
          <a:prstGeom prst="roundRect">
            <a:avLst>
              <a:gd name="adj" fmla="val 4000"/>
            </a:avLst>
          </a:prstGeom>
          <a:solidFill>
            <a:srgbClr val="0E4A5B"/>
          </a:solidFill>
          <a:ln w="12700">
            <a:solidFill>
              <a:srgbClr val="14556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60720" y="2834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4" descr="/home/claude/proj/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4738" y="2978658"/>
            <a:ext cx="352044" cy="3520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3520" y="26243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303520" y="3657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Utility Scoring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303520" y="42062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the utility function across candidate products in parallel</a:t>
            </a:r>
            <a:endParaRPr lang="en-US" sz="1050" dirty="0"/>
          </a:p>
        </p:txBody>
      </p:sp>
      <p:pic>
        <p:nvPicPr>
          <p:cNvPr id="26" name="Image 5" descr="/home/claude/proj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318" y="3886200"/>
            <a:ext cx="237744" cy="2377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475220" y="2514600"/>
            <a:ext cx="1828800" cy="3017520"/>
          </a:xfrm>
          <a:prstGeom prst="roundRect">
            <a:avLst>
              <a:gd name="adj" fmla="val 4000"/>
            </a:avLst>
          </a:prstGeom>
          <a:solidFill>
            <a:srgbClr val="0A3F4E"/>
          </a:solidFill>
          <a:ln w="12700">
            <a:solidFill>
              <a:srgbClr val="145566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069580" y="2834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6" descr="/home/claude/proj/icons/lay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3598" y="2978658"/>
            <a:ext cx="352044" cy="3520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612380" y="26243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7612380" y="3657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Ranking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612380" y="42062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Sort scored items; apply diversity &amp; business constraints</a:t>
            </a:r>
            <a:endParaRPr lang="en-US" sz="1050" dirty="0"/>
          </a:p>
        </p:txBody>
      </p:sp>
      <p:pic>
        <p:nvPicPr>
          <p:cNvPr id="33" name="Image 7" descr="/home/claude/proj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178" y="3886200"/>
            <a:ext cx="237744" cy="237744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784080" y="2514600"/>
            <a:ext cx="1828800" cy="3017520"/>
          </a:xfrm>
          <a:prstGeom prst="roundRect">
            <a:avLst>
              <a:gd name="adj" fmla="val 4000"/>
            </a:avLst>
          </a:prstGeom>
          <a:solidFill>
            <a:srgbClr val="0E4A5B"/>
          </a:solidFill>
          <a:ln w="12700">
            <a:solidFill>
              <a:srgbClr val="145566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10378440" y="2834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6" name="Image 8" descr="/home/claude/proj/icons/cart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2458" y="2978658"/>
            <a:ext cx="352044" cy="35204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921240" y="26243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9921240" y="3657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Delivery</a:t>
            </a:r>
            <a:endParaRPr lang="en-US" sz="1350" dirty="0"/>
          </a:p>
        </p:txBody>
      </p:sp>
      <p:sp>
        <p:nvSpPr>
          <p:cNvPr id="39" name="Text 28"/>
          <p:cNvSpPr/>
          <p:nvPr/>
        </p:nvSpPr>
        <p:spPr>
          <a:xfrm>
            <a:off x="9921240" y="42062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 top results to the storefront in milliseconds</a:t>
            </a:r>
            <a:endParaRPr lang="en-US" sz="1050" dirty="0"/>
          </a:p>
        </p:txBody>
      </p:sp>
      <p:sp>
        <p:nvSpPr>
          <p:cNvPr id="40" name="Text 29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FC3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scale: systems like these process billions of events per day and re-rank catalogs of tens of millions of items using distributed frameworks (e.g., Spark, Flink) and approximate nearest-neighbor search.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Optimizing for Maximum User Satisfaction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every candidate has a utility score, the agent simply ranks and recommends the highest scorers — turning subjective satisfaction into an optimizable number.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E7F5F3"/>
          </a:solidFill>
          <a:ln/>
        </p:spPr>
      </p:sp>
      <p:pic>
        <p:nvPicPr>
          <p:cNvPr id="7" name="Image 0" descr="/home/claude/proj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48" y="2581808"/>
            <a:ext cx="249631" cy="2496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4963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Compares all candidates on one common scale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E7F5F3"/>
          </a:solidFill>
          <a:ln/>
        </p:spPr>
      </p:sp>
      <p:pic>
        <p:nvPicPr>
          <p:cNvPr id="10" name="Image 1" descr="/home/claude/proj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48" y="3240176"/>
            <a:ext cx="249631" cy="2496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154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Balances competing goals: price vs. quality vs. speed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831336"/>
            <a:ext cx="384048" cy="384048"/>
          </a:xfrm>
          <a:prstGeom prst="ellipse">
            <a:avLst/>
          </a:prstGeom>
          <a:solidFill>
            <a:srgbClr val="E7F5F3"/>
          </a:solidFill>
          <a:ln/>
        </p:spPr>
      </p:sp>
      <p:pic>
        <p:nvPicPr>
          <p:cNvPr id="13" name="Image 2" descr="/home/claude/proj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48" y="3898544"/>
            <a:ext cx="249631" cy="24963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8130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Re-ranks in real time as new signals arrive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E7F5F3"/>
          </a:solidFill>
          <a:ln/>
        </p:spPr>
      </p:sp>
      <p:pic>
        <p:nvPicPr>
          <p:cNvPr id="16" name="Image 3" descr="/home/claude/proj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48" y="4556912"/>
            <a:ext cx="249631" cy="2496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4714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Learns from clicks &amp; purchases to refine future weights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Ranking a Search for "Running Shoes"</a:t>
            </a:r>
            <a:endParaRPr lang="en-US" sz="12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400800" y="182880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3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0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Utility-based recommendation logic already powers experiences people use every 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073B4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774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proj/icons/c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253174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2004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34747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"Customers who bought this also bought…"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43434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3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large online marketplace scores co-purchase patterns, ratings, and price fit to surface items that maximize the chance of a satisfying purchase.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25112" y="210312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073B4C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23774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proj/icons/pla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37" y="2531745"/>
            <a:ext cx="377190" cy="3771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32004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VIDEO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99432" y="34747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"For You" rows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599432" y="43434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3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video platform estimates the utility of each title from watch history, completion rate, and genre affinity to rank what appears first.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1584" y="210312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073B4C"/>
          </a:solidFill>
          <a:ln/>
        </p:spPr>
      </p:sp>
      <p:sp>
        <p:nvSpPr>
          <p:cNvPr id="19" name="Shape 15"/>
          <p:cNvSpPr/>
          <p:nvPr/>
        </p:nvSpPr>
        <p:spPr>
          <a:xfrm>
            <a:off x="8375904" y="23774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proj/icons/music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0209" y="2531745"/>
            <a:ext cx="377190" cy="3771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75904" y="32004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STREAMING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375904" y="34747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Weekly discovery playlists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375904" y="43434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3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music service blends listening history with collaborative filtering, assigning a utility score to unheard tracks likely to match taste.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Publicly reported figures suggest a large share of e-commerce and streaming engagement is driven by such recommendation systems — underscoring their business impact.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8B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Utility-Based Agents Win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E4A5B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proj/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211" y="2053971"/>
            <a:ext cx="326898" cy="326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99008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recommendations to a single, comparable, optimizable score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E4A5B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40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proj/icons/chartlin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131" y="205397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20440" y="299008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Distributed pipelines score millions of products for millions of users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E4A5B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proj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051" y="205397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09360" y="299008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 adapt to individual preference and context, not just popularity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91540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E4A5B"/>
          </a:solidFill>
          <a:ln/>
        </p:spPr>
      </p:sp>
      <p:sp>
        <p:nvSpPr>
          <p:cNvPr id="22" name="Shape 17"/>
          <p:cNvSpPr/>
          <p:nvPr/>
        </p:nvSpPr>
        <p:spPr>
          <a:xfrm>
            <a:off x="992124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proj/icons/cog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4971" y="2053971"/>
            <a:ext cx="326898" cy="32689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52560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Adaptability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098280" y="299008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Continuously re-learns from new behavior to stay accurate over time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416052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0A3F4E"/>
          </a:solidFill>
          <a:ln w="12700">
            <a:solidFill>
              <a:srgbClr val="14556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68680" y="448056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4" descr="/home/claude/proj/icons/bulb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985" y="4634865"/>
            <a:ext cx="377190" cy="37719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783080" y="475488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F2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utility-based agent turns the vague goal of "make customers happy" into a concrete, data-driven optimization problem — assigning measurable value to every option and using large-scale processing to act on it in real time, at the scale of millions of users and products.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9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718</Words>
  <Application>Microsoft Office PowerPoint</Application>
  <PresentationFormat>Widescreen</PresentationFormat>
  <Paragraphs>103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Claude</dc:creator>
  <cp:lastModifiedBy>DELL</cp:lastModifiedBy>
  <cp:revision>2</cp:revision>
  <dcterms:created xsi:type="dcterms:W3CDTF">2026-09-02T03:42:10Z</dcterms:created>
  <dcterms:modified xsi:type="dcterms:W3CDTF">2026-09-02T03:47:44Z</dcterms:modified>
</cp:coreProperties>
</file>